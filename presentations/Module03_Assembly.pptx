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457200" cy="73152"/>
          </a:xfrm>
          <a:prstGeom prst="rect">
            <a:avLst/>
          </a:prstGeom>
          <a:solidFill>
            <a:srgbClr val="AA88FF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182880"/>
            <a:ext cx="73152" cy="457200"/>
          </a:xfrm>
          <a:prstGeom prst="rect">
            <a:avLst/>
          </a:prstGeom>
          <a:solidFill>
            <a:srgbClr val="AA88FF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182880"/>
            <a:ext cx="457200" cy="73152"/>
          </a:xfrm>
          <a:prstGeom prst="rect">
            <a:avLst/>
          </a:prstGeom>
          <a:solidFill>
            <a:srgbClr val="AA88FF"/>
          </a:solidFill>
          <a:ln/>
        </p:spPr>
      </p:sp>
      <p:sp>
        <p:nvSpPr>
          <p:cNvPr id="5" name="Shape 3"/>
          <p:cNvSpPr/>
          <p:nvPr/>
        </p:nvSpPr>
        <p:spPr>
          <a:xfrm>
            <a:off x="8887968" y="182880"/>
            <a:ext cx="73152" cy="457200"/>
          </a:xfrm>
          <a:prstGeom prst="rect">
            <a:avLst/>
          </a:prstGeom>
          <a:solidFill>
            <a:srgbClr val="AA88FF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4892040"/>
            <a:ext cx="457200" cy="73152"/>
          </a:xfrm>
          <a:prstGeom prst="rect">
            <a:avLst/>
          </a:prstGeom>
          <a:solidFill>
            <a:srgbClr val="AA88FF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" y="4507992"/>
            <a:ext cx="73152" cy="457200"/>
          </a:xfrm>
          <a:prstGeom prst="rect">
            <a:avLst/>
          </a:prstGeom>
          <a:solidFill>
            <a:srgbClr val="AA88FF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892040"/>
            <a:ext cx="457200" cy="73152"/>
          </a:xfrm>
          <a:prstGeom prst="rect">
            <a:avLst/>
          </a:prstGeom>
          <a:solidFill>
            <a:srgbClr val="AA88FF"/>
          </a:solidFill>
          <a:ln/>
        </p:spPr>
      </p:sp>
      <p:sp>
        <p:nvSpPr>
          <p:cNvPr id="9" name="Shape 7"/>
          <p:cNvSpPr/>
          <p:nvPr/>
        </p:nvSpPr>
        <p:spPr>
          <a:xfrm>
            <a:off x="8887968" y="4507992"/>
            <a:ext cx="73152" cy="457200"/>
          </a:xfrm>
          <a:prstGeom prst="rect">
            <a:avLst/>
          </a:prstGeom>
          <a:solidFill>
            <a:srgbClr val="AA88FF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x86-64 Assembly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Essentials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 Format · Data Movement · Control Flow · Stack Operations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88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RAX, 0x1337  |  PUSH RBP  |  CALL 0x401000  |  RET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  |  Understand the machine. Defend what matters.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AA8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91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M03 — x86-64 Assembly Language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 Format &amp; Data Movement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AT&amp;T vs Intel syntax, operand types, and MOV variants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114800" cy="1188720"/>
          </a:xfrm>
          <a:prstGeom prst="rect">
            <a:avLst/>
          </a:prstGeom>
          <a:solidFill>
            <a:srgbClr val="161616"/>
          </a:solidFill>
          <a:ln w="15240">
            <a:solidFill>
              <a:srgbClr val="AA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 Comparison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176272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 (NASM/Ghidra)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77440" y="2176272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AT&amp;T (GDB/objdump)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386584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rax, rbx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77440" y="2386584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movq %rbx, %rax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596896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rax, [rbp-8]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77440" y="2596896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movq -8(%rbp), %rax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807208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rax, 0x10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77440" y="2807208"/>
            <a:ext cx="1920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addq $0x10, %rax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4114800" cy="155448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154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Instruction Family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4747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17320" y="34747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value (reg→reg, mem→reg, imm→reg)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7307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MOVSX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17320" y="37307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with sign extension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39867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MOVZX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17320" y="398678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with zero extension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17320" y="42428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string (memory block copy)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4988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17320" y="44988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effective address (ptr arithmetic)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1828800"/>
            <a:ext cx="4251960" cy="2834640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18745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Operand Types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09160" y="2212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Immediate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2395728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rax, 0x1337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2551176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Literal constant embedded in instruction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09160" y="2606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2788920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rax, rbx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2944368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from another register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09160" y="2999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Direct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3182112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rax, [0x601020]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9160" y="3337560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Absolute address dereference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09160" y="33924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Indirect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09160" y="3575304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rax, [rbx]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3730752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 holds address to read from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09160" y="3785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Displacement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09160" y="3968496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rax, [rbp-0x8]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09160" y="4123944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 + offset (local vars)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09160" y="4178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SIB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09160" y="4361688"/>
            <a:ext cx="4069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rax, [rbx+rcx*4]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09160" y="4517136"/>
            <a:ext cx="4069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+ Index*Scale (arrays)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AA8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91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M03 — x86-64 Assembly Language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Flow Instructions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Jumps, calls, and conditional branching in x86-64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114800" cy="1463040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Unconditional Transfer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JMP target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21945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 to address / label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target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31720" y="24688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RIP+size; jump to target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27432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return address → RIP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0175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 0xN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3017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N extra bytes (cdecl cleanup)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4114800" cy="128016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474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Conditional Jumps (EFLAGS-driven)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794760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 / JZ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83080" y="3794760"/>
            <a:ext cx="2514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 if equal / zero (ZF=1)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014216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JNE / JNZ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83080" y="4014216"/>
            <a:ext cx="2514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 if not equal (ZF=0)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23367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 / JNGE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83080" y="4233672"/>
            <a:ext cx="2514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 if less (signed, SF≠OF)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453128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 / JNAE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83080" y="4453128"/>
            <a:ext cx="2514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 if below (unsigned, CF=1)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1828800"/>
            <a:ext cx="4251960" cy="2880360"/>
          </a:xfrm>
          <a:prstGeom prst="rect">
            <a:avLst/>
          </a:prstGeom>
          <a:solidFill>
            <a:srgbClr val="161616"/>
          </a:solidFill>
          <a:ln w="15240">
            <a:solidFill>
              <a:srgbClr val="AA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18745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/ RET Mechanics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221284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CALL target: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9160" y="240944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RSP -= 8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260604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[RSP] = RIP + instr_size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09160" y="280263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RIP = target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09160" y="299923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319582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Inside callee: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09160" y="339242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PUSH RBP    ; save frame ptr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09160" y="358902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MOV RBP, RSP; new frame base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09160" y="378561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SUB RSP, N  ; alloc locals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398221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09160" y="417880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RET: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9160" y="437540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RIP = [RSP]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09160" y="457200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RSP += 8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AA8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91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M03 — x86-64 Assembly Language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Operations &amp; Arithmetic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PUSH, POP, and the instruction set relevant to security analysis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4114800" cy="1645920"/>
          </a:xfrm>
          <a:prstGeom prst="rect">
            <a:avLst/>
          </a:prstGeom>
          <a:solidFill>
            <a:srgbClr val="161616"/>
          </a:solidFill>
          <a:ln w="15240">
            <a:solidFill>
              <a:srgbClr val="00B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Instructions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2128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src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22128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RSP-=8; [RSP]=src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 dst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24688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dst=[RSP]; RSP+=8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7249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PUSHA/POPA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2724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Push/pop all GP registers (32-bit)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9809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PUSHF/POPF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48840" y="29809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Push/pop RFLAGS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2369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n,0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48840" y="32369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stack frame (alloc n bytes)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4930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48840" y="3493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RSP,RBP; POP RBP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611880"/>
            <a:ext cx="4114800" cy="109728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Arithmetic &amp; Logic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005072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25880" y="4005072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addition (CF set on overflow)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224528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25880" y="4224528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Subtraction (CF set if borrow)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443984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IMUL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25880" y="4443984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 multiply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663440"/>
            <a:ext cx="914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AND/OR/XOR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25880" y="4663440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Bitwise logic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1828800"/>
            <a:ext cx="4251960" cy="2880360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09160" y="18745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Relevance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17720" y="2212848"/>
            <a:ext cx="4251960" cy="804672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22585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 + RET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249631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epilogue sequence is the target of ROP gadget hunting. LEAVE cleans the frame; the RET then pops attacker-controlled data into RIP.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17720" y="3127248"/>
            <a:ext cx="4251960" cy="804672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09160" y="31729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 reg, reg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09160" y="341071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common compiler idiom for zeroing a register (faster than MOV r,0). Appears frequently in disassembly and is a sign of intentional zeroing vs. arithmetic.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4041648"/>
            <a:ext cx="4251960" cy="804672"/>
          </a:xfrm>
          <a:prstGeom prst="rect">
            <a:avLst/>
          </a:prstGeom>
          <a:solidFill>
            <a:srgbClr val="161616"/>
          </a:solidFill>
          <a:ln w="15240">
            <a:solidFill>
              <a:srgbClr val="AA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09160" y="40873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[rbp-0x8]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09160" y="432511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Indirect call via stack variable. If the variable is attacker-controlled, this is a code-pointer dereference — high-value CFI bypass target.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0A0A"/>
          </a:solidFill>
          <a:ln w="19050">
            <a:solidFill>
              <a:srgbClr val="AA8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NullByte Academy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91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M03 — x86-64 Assembly Language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— Reading Disassembly Output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Practical exercise: annotate a compiled function from disassembly alone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0A0A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© 2026 NullByte Academy  |  Defensive Cybersecurity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8595360" cy="548640"/>
          </a:xfrm>
          <a:prstGeom prst="rect">
            <a:avLst/>
          </a:prstGeom>
          <a:solidFill>
            <a:srgbClr val="161616"/>
          </a:solidFill>
          <a:ln w="15240">
            <a:solidFill>
              <a:srgbClr val="FF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9385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OBJECTIVE: Given a stripped binary, reconstruct the logic of a target function using only disassembly output. Document all register use, control flow, and local variable layout.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4937760" cy="2240280"/>
          </a:xfrm>
          <a:prstGeom prst="rect">
            <a:avLst/>
          </a:prstGeom>
          <a:solidFill>
            <a:srgbClr val="161616"/>
          </a:solidFill>
          <a:ln w="15240">
            <a:solidFill>
              <a:srgbClr val="AA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56032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disassembly (annotate this)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85292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0x401160  push   rbp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84048" y="305866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0x401161  mov    rbp,rsp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384048" y="326440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0x401164  sub    rsp,0x30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84048" y="347014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0x401168  mov    DWORD PTR [rbp-0x4],edi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84048" y="367588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0x40116b  test   edi,edi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84048" y="388162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0x40116d  jle    0x401185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384048" y="408736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0x40116f  lea    rax,[rbp-0x20]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84048" y="429310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0x401173  mov    rdi,rax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84048" y="449884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0x401176  call   0x401090 &lt;gets@plt&gt;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84048" y="470458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0x40117b  mov    eax,0x0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84048" y="491032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0x401180  jmp    0x40118a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84048" y="511606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0x401185  mov    eax,0xffffffff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84048" y="532180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0x40118a  leave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384048" y="552754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0x40118b  ret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394960" y="2514600"/>
            <a:ext cx="3474720" cy="2240280"/>
          </a:xfrm>
          <a:prstGeom prst="rect">
            <a:avLst/>
          </a:prstGeom>
          <a:solidFill>
            <a:srgbClr val="161616"/>
          </a:solidFill>
          <a:ln w="15240">
            <a:solidFill>
              <a:srgbClr val="00FF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256032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 Tasks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287121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Identify all local variables and their offsets from RBP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0" y="320954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Trace the control flow: draw CFG edges for each jump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0" y="3547872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Identify what gets() is called with — what is RDI?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0" y="388620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What is the security issue visible in this function?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0" y="422452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Which mitigation would partially protect this code?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0" y="456285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Document your analysis in wb_re_analysis_log.xlsx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03 — x86-64 Assembly Language</dc:title>
  <dc:subject>PptxGenJS Presentation</dc:subject>
  <dc:creator>NullByte Academy</dc:creator>
  <cp:lastModifiedBy>NullByte Academy</cp:lastModifiedBy>
  <cp:revision>1</cp:revision>
  <dcterms:created xsi:type="dcterms:W3CDTF">2026-02-26T23:57:24Z</dcterms:created>
  <dcterms:modified xsi:type="dcterms:W3CDTF">2026-02-26T23:57:24Z</dcterms:modified>
</cp:coreProperties>
</file>