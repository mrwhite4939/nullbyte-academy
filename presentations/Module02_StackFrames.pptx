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457200" cy="73152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182880"/>
            <a:ext cx="73152" cy="457200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182880"/>
            <a:ext cx="457200" cy="73152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5" name="Shape 3"/>
          <p:cNvSpPr/>
          <p:nvPr/>
        </p:nvSpPr>
        <p:spPr>
          <a:xfrm>
            <a:off x="8887968" y="182880"/>
            <a:ext cx="73152" cy="457200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4892040"/>
            <a:ext cx="457200" cy="73152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4507992"/>
            <a:ext cx="73152" cy="457200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892040"/>
            <a:ext cx="457200" cy="73152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9" name="Shape 7"/>
          <p:cNvSpPr/>
          <p:nvPr/>
        </p:nvSpPr>
        <p:spPr>
          <a:xfrm>
            <a:off x="8887968" y="4507992"/>
            <a:ext cx="73152" cy="457200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Frames &amp;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Layout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 Address Space · Stack Anatomy · Heap Internals · Frame 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0xDEADBEEF :: 0x7FFE0000 :: 0x00400000 :: 0x08048000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  |  Understand the machine. Defend what matters.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00B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914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M02 — Stack Frames &amp; Memory Layout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 Address Space Layout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 Linux process occupies memory from 0x0000 to 0xFFFF...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A0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NullByte Academy  |  Defensive Cybersecurity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2926080" cy="2834640"/>
          </a:xfrm>
          <a:prstGeom prst="rect">
            <a:avLst/>
          </a:prstGeom>
          <a:solidFill>
            <a:srgbClr val="161616"/>
          </a:solidFill>
          <a:ln w="15240">
            <a:solidFill>
              <a:srgbClr val="00B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20240"/>
            <a:ext cx="2834640" cy="329184"/>
          </a:xfrm>
          <a:prstGeom prst="rect">
            <a:avLst/>
          </a:prstGeom>
          <a:solidFill>
            <a:srgbClr val="151515"/>
          </a:solidFill>
          <a:ln w="10160">
            <a:solidFill>
              <a:srgbClr val="F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65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 Space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0280" y="19659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0xFFFF...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295144"/>
            <a:ext cx="2834640" cy="329184"/>
          </a:xfrm>
          <a:prstGeom prst="rect">
            <a:avLst/>
          </a:prstGeom>
          <a:solidFill>
            <a:srgbClr val="111111"/>
          </a:solidFill>
          <a:ln w="10160">
            <a:solidFill>
              <a:srgbClr val="00B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3408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 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0280" y="234086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0x7FFF...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670048"/>
            <a:ext cx="2834640" cy="329184"/>
          </a:xfrm>
          <a:prstGeom prst="rect">
            <a:avLst/>
          </a:prstGeom>
          <a:solidFill>
            <a:srgbClr val="151515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715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gap 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40280" y="27157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044952"/>
            <a:ext cx="2834640" cy="329184"/>
          </a:xfrm>
          <a:prstGeom prst="rect">
            <a:avLst/>
          </a:prstGeom>
          <a:solidFill>
            <a:srgbClr val="111111"/>
          </a:solidFill>
          <a:ln w="10160">
            <a:solidFill>
              <a:srgbClr val="AA8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906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  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40280" y="30906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419856"/>
            <a:ext cx="2834640" cy="329184"/>
          </a:xfrm>
          <a:prstGeom prst="rect">
            <a:avLst/>
          </a:prstGeom>
          <a:solidFill>
            <a:srgbClr val="151515"/>
          </a:solidFill>
          <a:ln w="10160">
            <a:solidFill>
              <a:srgbClr val="00FF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4655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40280" y="346557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0x00601...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794760"/>
            <a:ext cx="2834640" cy="329184"/>
          </a:xfrm>
          <a:prstGeom prst="rect">
            <a:avLst/>
          </a:prstGeom>
          <a:solidFill>
            <a:srgbClr val="111111"/>
          </a:solidFill>
          <a:ln w="10160">
            <a:solidFill>
              <a:srgbClr val="FFA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(.data)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40280" y="38404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0x00600...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4169664"/>
            <a:ext cx="2834640" cy="329184"/>
          </a:xfrm>
          <a:prstGeom prst="rect">
            <a:avLst/>
          </a:prstGeom>
          <a:solidFill>
            <a:srgbClr val="151515"/>
          </a:solidFill>
          <a:ln w="10160">
            <a:solidFill>
              <a:srgbClr val="FF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2153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(.text)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40280" y="421538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0x00400...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29000" y="1874520"/>
            <a:ext cx="5440680" cy="841248"/>
          </a:xfrm>
          <a:prstGeom prst="rect">
            <a:avLst/>
          </a:prstGeom>
          <a:solidFill>
            <a:srgbClr val="161616"/>
          </a:solidFill>
          <a:ln w="15240">
            <a:solidFill>
              <a:srgbClr val="00B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566160" y="192024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ASLR Effect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66160" y="2176272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ASLR enabled, base addresses of stack, heap, and libraries are randomized at load time. The text segment may also be randomized for PIE binaries.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29000" y="2834640"/>
            <a:ext cx="5440680" cy="841248"/>
          </a:xfrm>
          <a:prstGeom prst="rect">
            <a:avLst/>
          </a:prstGeom>
          <a:solidFill>
            <a:srgbClr val="161616"/>
          </a:solidFill>
          <a:ln w="15240">
            <a:solidFill>
              <a:srgbClr val="FF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566160" y="288036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W^X Enforcement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566160" y="3136392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DEP/NX marks stack and heap pages as non-executable. Code execution is restricted to the text segment and executable mapped regions.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29000" y="3794760"/>
            <a:ext cx="5440680" cy="841248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566160" y="384048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Growth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566160" y="4096512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stack grows toward lower addresses. RSP decreases as frames are allocated. This spatial fact underpins all stack overflow vulnerability mechanics.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00B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914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M02 — Stack Frames &amp; Memory Layout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Frame Anatomy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layout of a single function activation record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A0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NullByte Academy  |  Defensive Cybersecurity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4114800" cy="2834640"/>
          </a:xfrm>
          <a:prstGeom prst="rect">
            <a:avLst/>
          </a:prstGeom>
          <a:solidFill>
            <a:srgbClr val="161616"/>
          </a:solidFill>
          <a:ln w="15240">
            <a:solidFill>
              <a:srgbClr val="00B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74520"/>
            <a:ext cx="3977640" cy="329184"/>
          </a:xfrm>
          <a:prstGeom prst="rect">
            <a:avLst/>
          </a:prstGeom>
          <a:solidFill>
            <a:srgbClr val="11111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1109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Caller's arguments (&gt; 6)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91109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needed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244852"/>
            <a:ext cx="3977640" cy="329184"/>
          </a:xfrm>
          <a:prstGeom prst="rect">
            <a:avLst/>
          </a:prstGeom>
          <a:solidFill>
            <a:srgbClr val="2A18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8142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Address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28142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critical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615184"/>
            <a:ext cx="3977640" cy="329184"/>
          </a:xfrm>
          <a:prstGeom prst="rect">
            <a:avLst/>
          </a:prstGeom>
          <a:solidFill>
            <a:srgbClr val="001A2A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6517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RBP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65176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RBP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985516"/>
            <a:ext cx="3977640" cy="329184"/>
          </a:xfrm>
          <a:prstGeom prst="rect">
            <a:avLst/>
          </a:prstGeom>
          <a:solidFill>
            <a:srgbClr val="111111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2209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Canary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302209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enabled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355848"/>
            <a:ext cx="3977640" cy="329184"/>
          </a:xfrm>
          <a:prstGeom prst="rect">
            <a:avLst/>
          </a:prstGeom>
          <a:solidFill>
            <a:srgbClr val="111111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39242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Variable 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339242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726180"/>
            <a:ext cx="3977640" cy="329184"/>
          </a:xfrm>
          <a:prstGeom prst="rect">
            <a:avLst/>
          </a:prstGeom>
          <a:solidFill>
            <a:srgbClr val="111111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76275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Variable 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0" y="376275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096512"/>
            <a:ext cx="3977640" cy="329184"/>
          </a:xfrm>
          <a:prstGeom prst="rect">
            <a:avLst/>
          </a:prstGeom>
          <a:solidFill>
            <a:srgbClr val="111111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13308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Variable 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17520" y="41330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RSP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16276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ADDRESS ↑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" y="464515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ADDRESS ↓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1828800"/>
            <a:ext cx="4297680" cy="841248"/>
          </a:xfrm>
          <a:prstGeom prst="rect">
            <a:avLst/>
          </a:prstGeom>
          <a:solidFill>
            <a:srgbClr val="161616"/>
          </a:solidFill>
          <a:ln w="15240">
            <a:solidFill>
              <a:srgbClr val="FF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663440" y="1874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Address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63440" y="21305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Stored after the call instruction. Overwriting this field to redirect execution is the foundational goal of stack-based overflow exploitation — and precisely why stack canaries exist.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0" y="2788920"/>
            <a:ext cx="4297680" cy="841248"/>
          </a:xfrm>
          <a:prstGeom prst="rect">
            <a:avLst/>
          </a:prstGeom>
          <a:solidFill>
            <a:srgbClr val="161616"/>
          </a:solidFill>
          <a:ln w="15240">
            <a:solidFill>
              <a:srgbClr val="00B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663440" y="2834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RBP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63440" y="30906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caller's frame pointer value, pushed to preserve the call chain. Corruption here breaks the frame chain, causing crashes or — in older exploitation models — enabling frame pointer overwrites.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3749040"/>
            <a:ext cx="4297680" cy="841248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663440" y="3794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Variables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663440" y="40507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Allocated below the saved RBP. Declared in declaration order from high to low. Fixed-length buffers placed here become overflow targets when adjacent to the saved RBP or return address.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00B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914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M02 — Stack Frames &amp; Memory Layout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 Internals — glibc ptmalloc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structure, bins, and allocator behavior relevant to security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A0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NullByte Academy  |  Defensive Cybersecurity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3931920" cy="2743200"/>
          </a:xfrm>
          <a:prstGeom prst="rect">
            <a:avLst/>
          </a:prstGeom>
          <a:solidFill>
            <a:srgbClr val="161616"/>
          </a:solidFill>
          <a:ln w="15240">
            <a:solidFill>
              <a:srgbClr val="FF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malloc chunk (allocated)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194560"/>
            <a:ext cx="3794760" cy="301752"/>
          </a:xfrm>
          <a:prstGeom prst="rect">
            <a:avLst/>
          </a:prstGeom>
          <a:solidFill>
            <a:srgbClr val="11111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311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prev_size (if prev free)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542032"/>
            <a:ext cx="3794760" cy="301752"/>
          </a:xfrm>
          <a:prstGeom prst="rect">
            <a:avLst/>
          </a:prstGeom>
          <a:solidFill>
            <a:srgbClr val="2A18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5786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| flags (AMP)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889504"/>
            <a:ext cx="3794760" cy="301752"/>
          </a:xfrm>
          <a:prstGeom prst="rect">
            <a:avLst/>
          </a:prstGeom>
          <a:solidFill>
            <a:srgbClr val="1A2A1A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9260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data...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236976"/>
            <a:ext cx="3794760" cy="301752"/>
          </a:xfrm>
          <a:prstGeom prst="rect">
            <a:avLst/>
          </a:prstGeom>
          <a:solidFill>
            <a:srgbClr val="1A2A1A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2735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data (cont.)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584448"/>
            <a:ext cx="3794760" cy="301752"/>
          </a:xfrm>
          <a:prstGeom prst="rect">
            <a:avLst/>
          </a:prstGeom>
          <a:solidFill>
            <a:srgbClr val="1A2A1A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6210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data (cont.)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931920"/>
            <a:ext cx="3794760" cy="301752"/>
          </a:xfrm>
          <a:prstGeom prst="rect">
            <a:avLst/>
          </a:prstGeom>
          <a:solidFill>
            <a:srgbClr val="11111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96849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next chunk 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1828800"/>
            <a:ext cx="4480560" cy="2743200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8056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 Types (free chunk management)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22128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tcache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2414016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Per-thread, single-linked, fast allocation — no integrity checks in early implementations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26700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fastbins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80560" y="2871216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 chunks (≤160B), LIFO, no coalescing — historically targeted for double-free attacks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80560" y="3127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unsorted bin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80560" y="3328416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Recently freed chunks staging area before sorting into small/large bins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80560" y="35844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 bins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80560" y="3785616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Fixed-size bins (≤512B), doubly-linked, safe unlinking enforced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80560" y="4041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 bins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80560" y="4242816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Variable-size bins (&gt;512B), sorted by size, skip-list structure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00B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914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M02 — Stack Frames &amp; Memory Layout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Exercise — LAB-MEM-01/02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frame inspection and heap allocation tracing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A0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NullByte Academy  |  Defensive Cybersecurity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8595360" cy="548640"/>
          </a:xfrm>
          <a:prstGeom prst="rect">
            <a:avLst/>
          </a:prstGeom>
          <a:solidFill>
            <a:srgbClr val="161616"/>
          </a:solidFill>
          <a:ln w="15240">
            <a:solidFill>
              <a:srgbClr val="FF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9385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OBJECTIVE: Inspect live stack frames across multiple call depths. Trace heap allocations using GDB and observe chunk metadata.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514600"/>
            <a:ext cx="4114800" cy="2194560"/>
          </a:xfrm>
          <a:prstGeom prst="rect">
            <a:avLst/>
          </a:prstGeom>
          <a:solidFill>
            <a:srgbClr val="161616"/>
          </a:solidFill>
          <a:ln w="15240">
            <a:solidFill>
              <a:srgbClr val="00B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560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LAB-MEM-01: Stack Frames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8529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(gdb) break func_a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1135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(gdb) run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33741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(gdb) backtrace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36347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(gdb) frame 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38953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(gdb) info frame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41559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(gdb) x/32wx $rsp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44165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(gdb) p $rbp - $rsp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2514600"/>
            <a:ext cx="4251960" cy="2194560"/>
          </a:xfrm>
          <a:prstGeom prst="rect">
            <a:avLst/>
          </a:prstGeom>
          <a:solidFill>
            <a:srgbClr val="161616"/>
          </a:solidFill>
          <a:ln w="15240">
            <a:solidFill>
              <a:srgbClr val="FF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25603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LAB-MEM-02: Heap Tracing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85292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(gdb) break malloc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11353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(gdb) commands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337413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(gdb)   x/4gx $rdi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36347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(gdb) end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389534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(gdb) continue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41559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 chunks  # via pwndbg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441655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 bins    # bin state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02 — Stack Frames &amp; Memory Layout</dc:title>
  <dc:subject>PptxGenJS Presentation</dc:subject>
  <dc:creator>NullByte Academy</dc:creator>
  <cp:lastModifiedBy>NullByte Academy</cp:lastModifiedBy>
  <cp:revision>1</cp:revision>
  <dcterms:created xsi:type="dcterms:W3CDTF">2026-02-26T23:55:57Z</dcterms:created>
  <dcterms:modified xsi:type="dcterms:W3CDTF">2026-02-26T23:55:57Z</dcterms:modified>
</cp:coreProperties>
</file>