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182880"/>
            <a:ext cx="457200" cy="73152"/>
          </a:xfrm>
          <a:prstGeom prst="rect">
            <a:avLst/>
          </a:prstGeom>
          <a:solidFill>
            <a:srgbClr val="00FF99"/>
          </a:solidFill>
          <a:ln/>
        </p:spPr>
      </p:sp>
      <p:sp>
        <p:nvSpPr>
          <p:cNvPr id="3" name="Shape 1"/>
          <p:cNvSpPr/>
          <p:nvPr/>
        </p:nvSpPr>
        <p:spPr>
          <a:xfrm>
            <a:off x="182880" y="182880"/>
            <a:ext cx="73152" cy="457200"/>
          </a:xfrm>
          <a:prstGeom prst="rect">
            <a:avLst/>
          </a:prstGeom>
          <a:solidFill>
            <a:srgbClr val="00FF99"/>
          </a:solidFill>
          <a:ln/>
        </p:spPr>
      </p:sp>
      <p:sp>
        <p:nvSpPr>
          <p:cNvPr id="4" name="Shape 2"/>
          <p:cNvSpPr/>
          <p:nvPr/>
        </p:nvSpPr>
        <p:spPr>
          <a:xfrm>
            <a:off x="8503920" y="182880"/>
            <a:ext cx="457200" cy="73152"/>
          </a:xfrm>
          <a:prstGeom prst="rect">
            <a:avLst/>
          </a:prstGeom>
          <a:solidFill>
            <a:srgbClr val="00FF99"/>
          </a:solidFill>
          <a:ln/>
        </p:spPr>
      </p:sp>
      <p:sp>
        <p:nvSpPr>
          <p:cNvPr id="5" name="Shape 3"/>
          <p:cNvSpPr/>
          <p:nvPr/>
        </p:nvSpPr>
        <p:spPr>
          <a:xfrm>
            <a:off x="8887968" y="182880"/>
            <a:ext cx="73152" cy="457200"/>
          </a:xfrm>
          <a:prstGeom prst="rect">
            <a:avLst/>
          </a:prstGeom>
          <a:solidFill>
            <a:srgbClr val="00FF99"/>
          </a:solidFill>
          <a:ln/>
        </p:spPr>
      </p:sp>
      <p:sp>
        <p:nvSpPr>
          <p:cNvPr id="6" name="Shape 4"/>
          <p:cNvSpPr/>
          <p:nvPr/>
        </p:nvSpPr>
        <p:spPr>
          <a:xfrm>
            <a:off x="182880" y="4892040"/>
            <a:ext cx="457200" cy="73152"/>
          </a:xfrm>
          <a:prstGeom prst="rect">
            <a:avLst/>
          </a:prstGeom>
          <a:solidFill>
            <a:srgbClr val="00FF99"/>
          </a:solidFill>
          <a:ln/>
        </p:spPr>
      </p:sp>
      <p:sp>
        <p:nvSpPr>
          <p:cNvPr id="7" name="Shape 5"/>
          <p:cNvSpPr/>
          <p:nvPr/>
        </p:nvSpPr>
        <p:spPr>
          <a:xfrm>
            <a:off x="182880" y="4507992"/>
            <a:ext cx="73152" cy="457200"/>
          </a:xfrm>
          <a:prstGeom prst="rect">
            <a:avLst/>
          </a:prstGeom>
          <a:solidFill>
            <a:srgbClr val="00FF99"/>
          </a:solidFill>
          <a:ln/>
        </p:spPr>
      </p:sp>
      <p:sp>
        <p:nvSpPr>
          <p:cNvPr id="8" name="Shape 6"/>
          <p:cNvSpPr/>
          <p:nvPr/>
        </p:nvSpPr>
        <p:spPr>
          <a:xfrm>
            <a:off x="8503920" y="4892040"/>
            <a:ext cx="457200" cy="73152"/>
          </a:xfrm>
          <a:prstGeom prst="rect">
            <a:avLst/>
          </a:prstGeom>
          <a:solidFill>
            <a:srgbClr val="00FF99"/>
          </a:solidFill>
          <a:ln/>
        </p:spPr>
      </p:sp>
      <p:sp>
        <p:nvSpPr>
          <p:cNvPr id="9" name="Shape 7"/>
          <p:cNvSpPr/>
          <p:nvPr/>
        </p:nvSpPr>
        <p:spPr>
          <a:xfrm>
            <a:off x="8887968" y="4507992"/>
            <a:ext cx="73152" cy="457200"/>
          </a:xfrm>
          <a:prstGeom prst="rect">
            <a:avLst/>
          </a:prstGeom>
          <a:solidFill>
            <a:srgbClr val="00FF99"/>
          </a:solidFill>
          <a:ln/>
        </p:spPr>
      </p:sp>
      <p:sp>
        <p:nvSpPr>
          <p:cNvPr id="10" name="Text 8"/>
          <p:cNvSpPr/>
          <p:nvPr/>
        </p:nvSpPr>
        <p:spPr>
          <a:xfrm>
            <a:off x="0" y="10058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800" kern="0" dirty="0">
                <a:solidFill>
                  <a:srgbClr val="FFA5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 04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1463040"/>
            <a:ext cx="8229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0F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Reverse Engineering</a:t>
            </a:r>
            <a:endParaRPr lang="en-US" sz="4200" dirty="0"/>
          </a:p>
          <a:p>
            <a:pPr algn="ctr" indent="0" marL="0">
              <a:buNone/>
            </a:pPr>
            <a:r>
              <a:rPr lang="en-US" sz="4200" b="1" dirty="0">
                <a:solidFill>
                  <a:srgbClr val="00F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Fundamentals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457200" y="3246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Analysis · Dynamic Analysis · CFG Construction · Tool Methodology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3840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FF99">
                    <a:alpha val="5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ghidra  |  gdb + pwndbg  |  binary ninja  |  objdump  |  strace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⚡ NullByte Academy  |  Understand the machine. Defend what matters.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0A0A"/>
          </a:solidFill>
          <a:ln w="19050">
            <a:solidFill>
              <a:srgbClr val="00FF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914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⚡ NullByte Academy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0" y="9144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M04 — Reverse Engineering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68580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F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 Workflow: Static Analysis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65760" y="14173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 analysis → disassembly → CFG → cross-reference mapping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A0A0A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4901184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© 2026 NullByte Academy  |  Defensive Cybersecurity Research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1828800"/>
            <a:ext cx="1554480" cy="731520"/>
          </a:xfrm>
          <a:prstGeom prst="rect">
            <a:avLst/>
          </a:prstGeom>
          <a:solidFill>
            <a:srgbClr val="161616"/>
          </a:solidFill>
          <a:ln w="15240">
            <a:solidFill>
              <a:srgbClr val="00FF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5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0040" y="192024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F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File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0F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828800" y="2121408"/>
            <a:ext cx="201168" cy="146304"/>
          </a:xfrm>
          <a:prstGeom prst="rect">
            <a:avLst/>
          </a:prstGeom>
          <a:solidFill>
            <a:srgbClr val="555555"/>
          </a:solidFill>
          <a:ln/>
        </p:spPr>
      </p:sp>
      <p:sp>
        <p:nvSpPr>
          <p:cNvPr id="12" name="Shape 10"/>
          <p:cNvSpPr/>
          <p:nvPr/>
        </p:nvSpPr>
        <p:spPr>
          <a:xfrm>
            <a:off x="2029968" y="1828800"/>
            <a:ext cx="1554480" cy="731520"/>
          </a:xfrm>
          <a:prstGeom prst="rect">
            <a:avLst/>
          </a:prstGeom>
          <a:solidFill>
            <a:srgbClr val="161616"/>
          </a:solidFill>
          <a:ln w="15240">
            <a:solidFill>
              <a:srgbClr val="00FF4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5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075688" y="192024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Disassembly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584448" y="2121408"/>
            <a:ext cx="201168" cy="146304"/>
          </a:xfrm>
          <a:prstGeom prst="rect">
            <a:avLst/>
          </a:prstGeom>
          <a:solidFill>
            <a:srgbClr val="555555"/>
          </a:solidFill>
          <a:ln/>
        </p:spPr>
      </p:sp>
      <p:sp>
        <p:nvSpPr>
          <p:cNvPr id="15" name="Shape 13"/>
          <p:cNvSpPr/>
          <p:nvPr/>
        </p:nvSpPr>
        <p:spPr>
          <a:xfrm>
            <a:off x="3785616" y="1828800"/>
            <a:ext cx="1554480" cy="731520"/>
          </a:xfrm>
          <a:prstGeom prst="rect">
            <a:avLst/>
          </a:prstGeom>
          <a:solidFill>
            <a:srgbClr val="161616"/>
          </a:solidFill>
          <a:ln w="15240">
            <a:solidFill>
              <a:srgbClr val="FFA5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5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831336" y="192024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A5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CFG Build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340096" y="2121408"/>
            <a:ext cx="201168" cy="146304"/>
          </a:xfrm>
          <a:prstGeom prst="rect">
            <a:avLst/>
          </a:prstGeom>
          <a:solidFill>
            <a:srgbClr val="555555"/>
          </a:solidFill>
          <a:ln/>
        </p:spPr>
      </p:sp>
      <p:sp>
        <p:nvSpPr>
          <p:cNvPr id="18" name="Shape 16"/>
          <p:cNvSpPr/>
          <p:nvPr/>
        </p:nvSpPr>
        <p:spPr>
          <a:xfrm>
            <a:off x="5541264" y="1828800"/>
            <a:ext cx="1554480" cy="731520"/>
          </a:xfrm>
          <a:prstGeom prst="rect">
            <a:avLst/>
          </a:prstGeom>
          <a:solidFill>
            <a:srgbClr val="161616"/>
          </a:solidFill>
          <a:ln w="15240">
            <a:solidFill>
              <a:srgbClr val="AA88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5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586984" y="192024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A8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 Xref Map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095744" y="2121408"/>
            <a:ext cx="201168" cy="146304"/>
          </a:xfrm>
          <a:prstGeom prst="rect">
            <a:avLst/>
          </a:prstGeom>
          <a:solidFill>
            <a:srgbClr val="555555"/>
          </a:solidFill>
          <a:ln/>
        </p:spPr>
      </p:sp>
      <p:sp>
        <p:nvSpPr>
          <p:cNvPr id="21" name="Shape 19"/>
          <p:cNvSpPr/>
          <p:nvPr/>
        </p:nvSpPr>
        <p:spPr>
          <a:xfrm>
            <a:off x="7296912" y="1828800"/>
            <a:ext cx="1554480" cy="731520"/>
          </a:xfrm>
          <a:prstGeom prst="rect">
            <a:avLst/>
          </a:prstGeom>
          <a:solidFill>
            <a:srgbClr val="161616"/>
          </a:solidFill>
          <a:ln w="15240">
            <a:solidFill>
              <a:srgbClr val="FF88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5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342632" y="192024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8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 Report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74320" y="2697480"/>
            <a:ext cx="2743200" cy="1965960"/>
          </a:xfrm>
          <a:prstGeom prst="rect">
            <a:avLst/>
          </a:prstGeom>
          <a:solidFill>
            <a:srgbClr val="161616"/>
          </a:solidFill>
          <a:ln w="15240">
            <a:solidFill>
              <a:srgbClr val="00FF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5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432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F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 Recon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65760" y="303580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 ./binary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65760" y="3438144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strings ./binary | head -40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65760" y="384048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readelf -h ./binary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65760" y="4242816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checksec ./binary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246120" y="2697480"/>
            <a:ext cx="2743200" cy="1965960"/>
          </a:xfrm>
          <a:prstGeom prst="rect">
            <a:avLst/>
          </a:prstGeom>
          <a:solidFill>
            <a:srgbClr val="161616"/>
          </a:solidFill>
          <a:ln w="15240">
            <a:solidFill>
              <a:srgbClr val="00FF4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5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3337560" y="27432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Disassembly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337560" y="303580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Ghidra: Import → Analyze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337560" y="3438144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Find entry: _start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337560" y="384048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Main: look for __libc_start_main arg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337560" y="4242816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objdump -d -M intel ./binary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217920" y="2697480"/>
            <a:ext cx="2743200" cy="1965960"/>
          </a:xfrm>
          <a:prstGeom prst="rect">
            <a:avLst/>
          </a:prstGeom>
          <a:solidFill>
            <a:srgbClr val="161616"/>
          </a:solidFill>
          <a:ln w="15240">
            <a:solidFill>
              <a:srgbClr val="FFA5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5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309360" y="27432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A5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CFG &amp; Xref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309360" y="303580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Ghidra: Function Graph view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309360" y="3438144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Right-click fn → Show call tree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309360" y="384048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Cross-refs: press X on symbol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309360" y="4242816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Label everything as you go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0A0A"/>
          </a:solidFill>
          <a:ln w="19050">
            <a:solidFill>
              <a:srgbClr val="00FF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914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⚡ NullByte Academy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0" y="9144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M04 — Reverse Engineering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68580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F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 Workflow: Dynamic Analysis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65760" y="14173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Debugger-driven execution, breakpoint strategy, and memory inspection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A0A0A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4901184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© 2026 NullByte Academy  |  Defensive Cybersecurity Research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1828800"/>
            <a:ext cx="4846320" cy="2880360"/>
          </a:xfrm>
          <a:prstGeom prst="rect">
            <a:avLst/>
          </a:prstGeom>
          <a:solidFill>
            <a:srgbClr val="161616"/>
          </a:solidFill>
          <a:ln w="15240">
            <a:solidFill>
              <a:srgbClr val="FFA5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5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5760" y="187452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A5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GDB + pwndbg Workflow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2212848"/>
            <a:ext cx="2743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gdb -q ./binary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154680" y="2212848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Quiet mode start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65760" y="2491740"/>
            <a:ext cx="2743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 disassembly-flavor intel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154680" y="2491740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Intel syntax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65760" y="2770632"/>
            <a:ext cx="2743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154680" y="2770632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Break at main entry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65760" y="3049524"/>
            <a:ext cx="2743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disassemble $rip, +80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154680" y="3049524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Inspect upcoming instructions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65760" y="3328416"/>
            <a:ext cx="2743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break *0x401160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154680" y="3328416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BP at specific address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65760" y="3607308"/>
            <a:ext cx="2743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 &lt; input.txt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154680" y="3607308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Execute with input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65760" y="3886200"/>
            <a:ext cx="2743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x/s $rdi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154680" y="3886200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Print string from RDI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65760" y="4165092"/>
            <a:ext cx="2743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telescope $rsp 20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154680" y="4165092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pwndbg: stack view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65760" y="4443984"/>
            <a:ext cx="2743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context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154680" y="4443984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pwndbg: full context view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303520" y="1828800"/>
            <a:ext cx="3566160" cy="841248"/>
          </a:xfrm>
          <a:prstGeom prst="rect">
            <a:avLst/>
          </a:prstGeom>
          <a:solidFill>
            <a:srgbClr val="161616"/>
          </a:solidFill>
          <a:ln w="15240">
            <a:solidFill>
              <a:srgbClr val="FFA5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5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394960" y="187452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A5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Breakpoint Strategy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394960" y="2130552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 BPs at function entry, interesting comparisons (CMP/TEST), and before/after sensitive calls. Conditional BPs (break if) reduce noise.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303520" y="2788920"/>
            <a:ext cx="3566160" cy="841248"/>
          </a:xfrm>
          <a:prstGeom prst="rect">
            <a:avLst/>
          </a:prstGeom>
          <a:solidFill>
            <a:srgbClr val="161616"/>
          </a:solidFill>
          <a:ln w="15240">
            <a:solidFill>
              <a:srgbClr val="00B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5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394960" y="283464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Memory Inspection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394960" y="3090672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x/Nx$rsp for stack inspection. x/s to read strings. Use 'watch' to detect memory writes to specific addresses.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303520" y="3749040"/>
            <a:ext cx="3566160" cy="841248"/>
          </a:xfrm>
          <a:prstGeom prst="rect">
            <a:avLst/>
          </a:prstGeom>
          <a:solidFill>
            <a:srgbClr val="161616"/>
          </a:solidFill>
          <a:ln w="15240">
            <a:solidFill>
              <a:srgbClr val="00FF4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5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5394960" y="379476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Trace Analysis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394960" y="4050792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ltrace traces library calls (libc functions). strace traces syscalls. Both reveal program behavior without source code.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0A0A"/>
          </a:solidFill>
          <a:ln w="19050">
            <a:solidFill>
              <a:srgbClr val="00FF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914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⚡ NullByte Academy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0" y="9144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M04 — Reverse Engineering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68580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F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Ghidra — Tool Deep Dive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65760" y="14173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Import, analyze, navigate, and annotate binaries in Ghidra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A0A0A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4901184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© 2026 NullByte Academy  |  Defensive Cybersecurity Research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1828800"/>
            <a:ext cx="4114800" cy="2880360"/>
          </a:xfrm>
          <a:prstGeom prst="rect">
            <a:avLst/>
          </a:prstGeom>
          <a:solidFill>
            <a:srgbClr val="161616"/>
          </a:solidFill>
          <a:ln w="15240">
            <a:solidFill>
              <a:srgbClr val="00FF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5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5760" y="18745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F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Ghidra Interface Panels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84048" y="219456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F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Listing (Disassembly)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84048" y="239572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Primary disassembly view. Navigate with G (go to address), Ctrl+G (go to symbol).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84048" y="270662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F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Decompiler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84048" y="290779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C-like pseudocode output. Right-click → Go To Definition. Rename variables with L key.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84048" y="321868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F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Graph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84048" y="341985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Control flow visualization. Blocks = basic blocks. Edges = conditional/unconditional jumps.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84048" y="373075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F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Symbol Tree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84048" y="39319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Imports, exports, functions list. Entry point and main() are primary starting points.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84048" y="424281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F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Cross References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84048" y="444398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Press X on any address or symbol to see all references to it across the binary.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617720" y="1828800"/>
            <a:ext cx="4251960" cy="1463040"/>
          </a:xfrm>
          <a:prstGeom prst="rect">
            <a:avLst/>
          </a:prstGeom>
          <a:solidFill>
            <a:srgbClr val="161616"/>
          </a:solidFill>
          <a:ln w="15240">
            <a:solidFill>
              <a:srgbClr val="AA88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5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709160" y="1874520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A8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 Shortcuts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709160" y="2212848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A8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577840" y="2212848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 to address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709160" y="2395728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A8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577840" y="2395728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Rename label/function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709160" y="2578608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A8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577840" y="2578608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Cross-references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709160" y="2761488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A8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577840" y="2761488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Follow call/reference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709160" y="2944368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A8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Ctrl+Alt+F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77840" y="2944368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 all functions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709160" y="3127248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A8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Ctrl+Shift+E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577840" y="3127248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Edit data type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617720" y="3401568"/>
            <a:ext cx="4251960" cy="1307592"/>
          </a:xfrm>
          <a:prstGeom prst="rect">
            <a:avLst/>
          </a:prstGeom>
          <a:solidFill>
            <a:srgbClr val="161616"/>
          </a:solidFill>
          <a:ln w="15240">
            <a:solidFill>
              <a:srgbClr val="00FF4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5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4709160" y="3447288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Analysis Tips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709160" y="3749040"/>
            <a:ext cx="4069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Always rename functions as you identify them — good naming propagates through Xrefs and keeps analysis coherent across sessions.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709160" y="4206240"/>
            <a:ext cx="4069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 from entry point, find __libc_start_main, identify main()'s argument, follow the call graph outward rather than inward.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0A0A"/>
          </a:solidFill>
          <a:ln w="19050">
            <a:solidFill>
              <a:srgbClr val="00FF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914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⚡ NullByte Academy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0" y="9144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M04 — Reverse Engineering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68580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F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 Exercise — LAB-RE-01/02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65760" y="14173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Binary analysis exercises: from disassembly to annotated pseudocode report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A0A0A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4901184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© 2026 NullByte Academy  |  Defensive Cybersecurity Research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1828800"/>
            <a:ext cx="8595360" cy="548640"/>
          </a:xfrm>
          <a:prstGeom prst="rect">
            <a:avLst/>
          </a:prstGeom>
          <a:solidFill>
            <a:srgbClr val="161616"/>
          </a:solidFill>
          <a:ln w="15240">
            <a:solidFill>
              <a:srgbClr val="00FF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5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11480" y="1938528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OBJECTIVE: Analyze two stripped binaries using Ghidra + GDB. Produce a structured analysis report: annotated CFG, reconstructed logic, identified data structures, and key findings.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74320" y="2514600"/>
            <a:ext cx="4114800" cy="2194560"/>
          </a:xfrm>
          <a:prstGeom prst="rect">
            <a:avLst/>
          </a:prstGeom>
          <a:solidFill>
            <a:srgbClr val="161616"/>
          </a:solidFill>
          <a:ln w="15240">
            <a:solidFill>
              <a:srgbClr val="00FF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5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256032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F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LAB-RE-01: Static Analysis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84048" y="286207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1: Import lab_re_01 into Ghidra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84048" y="313182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2: Run auto-analysis (default settings)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84048" y="340156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3: Locate and rename main()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84048" y="3671316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4: Map all function calls from main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84048" y="3941064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5: Identify all string literals used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84048" y="421081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6: Reconstruct program logic in pseudocode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84048" y="448056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7: Document in wb_re_analysis_log.xlsx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617720" y="2514600"/>
            <a:ext cx="4251960" cy="2194560"/>
          </a:xfrm>
          <a:prstGeom prst="rect">
            <a:avLst/>
          </a:prstGeom>
          <a:solidFill>
            <a:srgbClr val="161616"/>
          </a:solidFill>
          <a:ln w="15240">
            <a:solidFill>
              <a:srgbClr val="FFA5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5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709160" y="2560320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A5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LAB-RE-02: Dynamic Analysis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54880" y="2862072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1: Load lab_re_02 in GDB with pwndbg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754880" y="3131820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2: Break at main, step through execution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754880" y="3401568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3: Identify all input-handling code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754880" y="3671316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4: Trace function arguments at each call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754880" y="3941064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5: Map execution paths for both branches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754880" y="4210812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6: Correlate with Ghidra static analysis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754880" y="4480560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7: Write combined static+dynamic summary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04 — Reverse Engineering Fundamentals</dc:title>
  <dc:subject>PptxGenJS Presentation</dc:subject>
  <dc:creator>NullByte Academy</dc:creator>
  <cp:lastModifiedBy>NullByte Academy</cp:lastModifiedBy>
  <cp:revision>1</cp:revision>
  <dcterms:created xsi:type="dcterms:W3CDTF">2026-02-26T23:58:34Z</dcterms:created>
  <dcterms:modified xsi:type="dcterms:W3CDTF">2026-02-26T23:58:34Z</dcterms:modified>
</cp:coreProperties>
</file>